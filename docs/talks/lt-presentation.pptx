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0" y="0"/>
            <a:ext cx="2133295" cy="4114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411480"/>
            <a:ext cx="2133295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eastAsia typeface="Yu Gothic"/>
              </a:rPr>
              <a:t>Engineering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CADCFC"/>
                </a:solidFill>
                <a:eastAsia typeface="Yu Gothic"/>
              </a:rPr>
              <a:t>最高の AI Agent チームを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eastAsia typeface="Yu Gothic"/>
              </a:rPr>
              <a:t>目指して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94760"/>
            <a:ext cx="9144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eastAsia typeface="Yu Gothic"/>
              </a:rPr>
              <a:t>個人 OSS「kobaamd」を 21 日間 AI 任せで作った、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eastAsia typeface="Yu Gothic"/>
              </a:rPr>
              <a:t>自律チームの育て方の3フェーズ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eastAsia typeface="Yu Gothic"/>
              </a:rPr>
              <a:t>小林 浩  /  Engineering Manager  /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なぜ kobaamd を作るのか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個人 OSS の動機 ─ 道具を作りたかった理由 / AI 駆動を試したかった理由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486400" cy="420624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09728" cy="4206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  <a:eastAsia typeface="Yu Gothic"/>
              </a:rPr>
              <a:t>①  Markdown Editor が欲しかった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12933"/>
                </a:solidFill>
                <a:eastAsia typeface="Yu Gothic"/>
              </a:rPr>
              <a:t>AI 時代、Markdown は事実上の標準フォーマット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6B7280"/>
                </a:solidFill>
                <a:eastAsia typeface="Yu Gothic"/>
              </a:rPr>
              <a:t>でも既存エディタは…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12933"/>
                </a:solidFill>
                <a:eastAsia typeface="Yu Gothic"/>
              </a:rPr>
              <a:t>  ・ 重い（IDE 系）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12933"/>
                </a:solidFill>
                <a:eastAsia typeface="Yu Gothic"/>
              </a:rPr>
              <a:t>  ・ クラウド前提（Notion / Obsidian Sync）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12933"/>
                </a:solidFill>
                <a:eastAsia typeface="Yu Gothic"/>
              </a:rPr>
              <a:t>  ・ Mac native 体験が薄い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1" i="1">
                <a:solidFill>
                  <a:srgbClr val="F59E0B"/>
                </a:solidFill>
                <a:eastAsia typeface="Yu Gothic"/>
              </a:rPr>
              <a:t>→ 自分が一番使いたい道具がないなら作る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486400" cy="420624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109728" cy="4206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  <a:eastAsia typeface="Yu Gothic"/>
              </a:rPr>
              <a:t>②  AI 駆動を本気で試したかった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12933"/>
                </a:solidFill>
                <a:eastAsia typeface="Yu Gothic"/>
              </a:rPr>
              <a:t>EM 歴は長いが、モダン Web・Mac native は素人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6B7280"/>
                </a:solidFill>
                <a:eastAsia typeface="Yu Gothic"/>
              </a:rPr>
              <a:t>「エンジニアじゃない自分でも、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6B7280"/>
                </a:solidFill>
                <a:eastAsia typeface="Yu Gothic"/>
              </a:rPr>
              <a:t>   AI に頼れば作れるのか？」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12933"/>
                </a:solidFill>
                <a:eastAsia typeface="Yu Gothic"/>
              </a:rPr>
              <a:t>実験場としてちょうどよい OSS 規模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1" i="1">
                <a:solidFill>
                  <a:srgbClr val="F59E0B"/>
                </a:solidFill>
                <a:eastAsia typeface="Yu Gothic"/>
              </a:rPr>
              <a:t>→ AI Agent をチームメンバーとして迎え入れる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1E2761"/>
                </a:solidFill>
                <a:eastAsia typeface="Yu Gothic"/>
              </a:rPr>
              <a:t>このLTのゴール：個人 OSS で得た学びを、皆さんの業務に持ち込めるように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eastAsia typeface="Yu Gothic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題材：kobaamd の規模感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2026-04-19 開始 → 21 日間で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657600" cy="219456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0" b="1" i="0">
                <a:solidFill>
                  <a:srgbClr val="1E2761"/>
                </a:solidFill>
                <a:eastAsia typeface="Yu Gothic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eastAsia typeface="Yu Gothic"/>
              </a:rPr>
              <a:t>プロジェクト期間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eastAsia typeface="Yu Gothic"/>
              </a:rPr>
              <a:t>2026-04-19 → 05-10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91640"/>
            <a:ext cx="3657600" cy="219456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0" b="1" i="0">
                <a:solidFill>
                  <a:srgbClr val="1E2761"/>
                </a:solidFill>
                <a:eastAsia typeface="Yu Gothic"/>
              </a:rPr>
              <a:t>167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200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eastAsia typeface="Yu Gothic"/>
              </a:rPr>
              <a:t>累計コミット数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520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eastAsia typeface="Yu Gothic"/>
              </a:rPr>
              <a:t>1日あたり 約8 commits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657600" cy="219456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2880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0" b="1" i="0">
                <a:solidFill>
                  <a:srgbClr val="1E2761"/>
                </a:solidFill>
                <a:eastAsia typeface="Yu Gothic"/>
              </a:rPr>
              <a:t>≈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200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eastAsia typeface="Yu Gothic"/>
              </a:rPr>
              <a:t>マージ PR 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520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eastAsia typeface="Yu Gothic"/>
              </a:rPr>
              <a:t>最大 PR #110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11155680" cy="1691640"/>
          </a:xfrm>
          <a:prstGeom prst="rect">
            <a:avLst/>
          </a:prstGeom>
          <a:solidFill>
            <a:srgbClr val="F6F8FC"/>
          </a:solidFill>
          <a:ln w="19050">
            <a:solidFill>
              <a:srgbClr val="CADCF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1115568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eastAsia typeface="Yu Gothic"/>
              </a:rPr>
              <a:t>kobaamd の UI（後で実スクショに差し替え）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eastAsia typeface="Yu Gothic"/>
              </a:rPr>
              <a:t>Swift / SwiftUI / AppKit / macOS 14+  ─  Phase 3 まで完了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eastAsia typeface="Yu Gothic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Phase 1：まず AI と一緒に作ってみる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Vibe coding 期 ─ 触らないと限界は見えない／3 つの AI を役割分担して走らせる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  <a:eastAsia typeface="Yu Gothic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eastAsia typeface="Yu Gothic"/>
              </a:rPr>
              <a:t>● ○ 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57600" cy="47548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783080"/>
            <a:ext cx="822960" cy="8229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eastAsia typeface="Yu Gothic"/>
              </a:rPr>
              <a:t>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eastAsia typeface="Yu Gothic"/>
              </a:rPr>
              <a:t>Gemini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eastAsia typeface="Yu Gothic"/>
              </a:rPr>
              <a:t>特徴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08960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マルチモーダル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大量入力に強い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検索ベースの最新情報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" y="507492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eastAsia typeface="Yu Gothic"/>
              </a:rPr>
              <a:t>→ だから この役割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440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E2761"/>
                </a:solidFill>
                <a:eastAsia typeface="Yu Gothic"/>
              </a:rPr>
              <a:t>リサーチ・調査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54480"/>
            <a:ext cx="3657600" cy="47548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783080"/>
            <a:ext cx="82296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830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eastAsia typeface="Yu Gothic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eastAsia typeface="Yu Gothic"/>
              </a:rPr>
              <a:t>Codex 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eastAsia typeface="Yu Gothic"/>
              </a:rPr>
              <a:t>特徴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コーディング特化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単価が安い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ChatGPT Plus 認証で動く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507492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eastAsia typeface="Yu Gothic"/>
              </a:rPr>
              <a:t>→ だから この役割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440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E2761"/>
                </a:solidFill>
                <a:eastAsia typeface="Yu Gothic"/>
              </a:rPr>
              <a:t>実装の主力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554480"/>
            <a:ext cx="3657600" cy="47548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1783080"/>
            <a:ext cx="822960" cy="8229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7830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eastAsia typeface="Yu Gothic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eastAsia typeface="Yu Gothic"/>
              </a:rPr>
              <a:t>Claude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eastAsia typeface="Yu Gothic"/>
              </a:rPr>
              <a:t>特徴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108960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設計判断・推論力が高い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コードレビューが強い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・ 単価は高め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507492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eastAsia typeface="Yu Gothic"/>
              </a:rPr>
              <a:t>→ だから この役割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440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E2761"/>
                </a:solidFill>
                <a:eastAsia typeface="Yu Gothic"/>
              </a:rPr>
              <a:t>オーケストレーター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eastAsia typeface="Yu Gothic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発見①：能力の高い AI ほど、放っておくと抱え込む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Phase 1 で見えたこと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  <a:eastAsia typeface="Yu Gothic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eastAsia typeface="Yu Gothic"/>
              </a:rPr>
              <a:t>● ○ 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155680" cy="228600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7280"/>
                </a:solidFill>
                <a:eastAsia typeface="Yu Gothic"/>
              </a:rPr>
              <a:t>「あれ？最近 Codex に頼んでる雰囲気がないな…」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7280"/>
                </a:solidFill>
                <a:eastAsia typeface="Yu Gothic"/>
              </a:rPr>
              <a:t>「Claude さん、実装どうしてる？」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E2761"/>
                </a:solidFill>
                <a:eastAsia typeface="Yu Gothic"/>
              </a:rPr>
              <a:t>→  「私が書きました！」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1155680" cy="21945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eastAsia typeface="Yu Gothic"/>
              </a:rPr>
              <a:t>観察：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eastAsia typeface="Yu Gothic"/>
              </a:rPr>
              <a:t>能力の高いメンバーは、放っておくと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1">
                <a:solidFill>
                  <a:srgbClr val="CADCFC"/>
                </a:solidFill>
                <a:eastAsia typeface="Yu Gothic"/>
              </a:rPr>
              <a:t>「自分でやった方が早い」と判断する。それは AI も同じ。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eastAsia typeface="Yu Gothic"/>
              </a:rPr>
              <a:t>→ AI の能力に応じた 役割の固定化 が必要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eastAsia typeface="Yu Gothic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対処：役割を CLAUDE.md に明文化する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Phase 1 ─ コードと同じくレビュー可能な場所にルールを置く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  <a:eastAsia typeface="Yu Gothic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eastAsia typeface="Yu Gothic"/>
              </a:rPr>
              <a:t>● ○ 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852160" cy="4389120"/>
          </a:xfrm>
          <a:prstGeom prst="roundRect">
            <a:avLst/>
          </a:prstGeom>
          <a:solidFill>
            <a:srgbClr val="21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eastAsia typeface="Yu Gothic"/>
              </a:rPr>
              <a:t>CLAUDE.md  （抜粋）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  <a:eastAsia typeface="Yu Gothic"/>
              </a:rPr>
              <a:t>## 役割分担（厳守）</a:t>
            </a:r>
          </a:p>
          <a:p>
            <a:pPr algn="l">
              <a:lnSpc>
                <a:spcPct val="140000"/>
              </a:lnSpc>
            </a:pPr>
            <a:r>
              <a:rPr sz="4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ADCFC"/>
                </a:solidFill>
                <a:latin typeface="Consolas"/>
                <a:eastAsia typeface="Yu Gothic"/>
              </a:rPr>
              <a:t>- Claude はコードを書かない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ADCFC"/>
                </a:solidFill>
                <a:latin typeface="Consolas"/>
                <a:eastAsia typeface="Yu Gothic"/>
              </a:rPr>
              <a:t>- 実装は Codex CLI に依頼する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ADCFC"/>
                </a:solidFill>
                <a:latin typeface="Consolas"/>
                <a:eastAsia typeface="Yu Gothic"/>
              </a:rPr>
              <a:t>- 調査・ドキュメントは Gemini に依頼</a:t>
            </a:r>
          </a:p>
          <a:p>
            <a:pPr algn="l">
              <a:lnSpc>
                <a:spcPct val="140000"/>
              </a:lnSpc>
            </a:pPr>
            <a:r>
              <a:rPr sz="4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  <a:eastAsia typeface="Yu Gothic"/>
              </a:rPr>
              <a:t>## 判断基準</a:t>
            </a:r>
          </a:p>
          <a:p>
            <a:pPr algn="l">
              <a:lnSpc>
                <a:spcPct val="140000"/>
              </a:lnSpc>
            </a:pPr>
            <a:r>
              <a:rPr sz="4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ADCFC"/>
                </a:solidFill>
                <a:latin typeface="Consolas"/>
                <a:eastAsia typeface="Yu Gothic"/>
              </a:rPr>
              <a:t>  .swift を編集 → Codex に依頼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ADCFC"/>
                </a:solidFill>
                <a:latin typeface="Consolas"/>
                <a:eastAsia typeface="Yu Gothic"/>
              </a:rPr>
              <a:t>  技術調査・選定 → Gemini に依頼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ADCFC"/>
                </a:solidFill>
                <a:latin typeface="Consolas"/>
                <a:eastAsia typeface="Yu Gothic"/>
              </a:rPr>
              <a:t>  設計・レビュー   → Claude が担当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554480"/>
            <a:ext cx="5120640" cy="438912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783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eastAsia typeface="Yu Gothic"/>
              </a:rPr>
              <a:t>効果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3172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12933"/>
                </a:solidFill>
                <a:eastAsia typeface="Yu Gothic"/>
              </a:rPr>
              <a:t>・ Claude が抱え込まなくなった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12933"/>
                </a:solidFill>
                <a:eastAsia typeface="Yu Gothic"/>
              </a:rPr>
              <a:t>・ モデル単価の最適化が効く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12933"/>
                </a:solidFill>
                <a:eastAsia typeface="Yu Gothic"/>
              </a:rPr>
              <a:t>・ 新しい session でもルールが効く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6B7280"/>
                </a:solidFill>
                <a:eastAsia typeface="Yu Gothic"/>
              </a:rPr>
              <a:t>  （再現性が出る）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12933"/>
                </a:solidFill>
                <a:eastAsia typeface="Yu Gothic"/>
              </a:rPr>
              <a:t>・ ルール変更がコードレビュー対象に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6B7280"/>
                </a:solidFill>
                <a:eastAsia typeface="Yu Gothic"/>
              </a:rPr>
              <a:t>  （PR で議論できる）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5349240"/>
            <a:ext cx="45720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5440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F59E0B"/>
                </a:solidFill>
                <a:eastAsia typeface="Yu Gothic"/>
              </a:rPr>
              <a:t>→ 役割が固定されると、AI は本来の強みを発揮する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eastAsia typeface="Yu Gothic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発見②：対話型では、人間が必ず間に入る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Phase 1 で見えたこと ─ あるあるな1日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  <a:eastAsia typeface="Yu Gothic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eastAsia typeface="Yu Gothic"/>
              </a:rPr>
              <a:t>● ○ 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40680" cy="7772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eastAsia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37360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Claude「次どうしますか？」で作業が中断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440680" cy="7772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eastAsia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1737360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PR が3つ溜まってる、レビューが追いつかない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33472"/>
            <a:ext cx="5440680" cy="7772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2770632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706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eastAsia typeface="Y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79191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通知でチラ見 → 5分でも作業に戻れない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633472"/>
            <a:ext cx="5440680" cy="7772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2770632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7706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eastAsia typeface="Yu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2679191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「あと一周だけ」で午前2時まで止まらない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75304"/>
            <a:ext cx="5440680" cy="7772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3712464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124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eastAsia typeface="Yu Gothi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621024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テスト失敗の原因切り分けは結局自分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575304"/>
            <a:ext cx="5440680" cy="7772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3712464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7124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eastAsia typeface="Yu Gothic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3621024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曖昧質問への待機状態が積み重なる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29200"/>
            <a:ext cx="11155680" cy="12801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16636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CADCFC"/>
                </a:solidFill>
                <a:eastAsia typeface="Yu Gothic"/>
              </a:rPr>
              <a:t>Cursor / Buddy / Claude Code、すべて『対話型』。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778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eastAsia typeface="Yu Gothic"/>
              </a:rPr>
              <a:t>→ 仕組みで置き換える必要が見えた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893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F59E0B"/>
                </a:solidFill>
                <a:eastAsia typeface="Yu Gothic"/>
              </a:rPr>
              <a:t>（Phase 2 へ）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eastAsia typeface="Yu Gothic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Phase 2：仕組みで AI チームを伸ばす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自律化期 ─ Linear  +  .claude/agents/  +  .claude/commands/  +  launchd（OS の定期実行）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  <a:eastAsia typeface="Yu Gothic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eastAsia typeface="Yu Gothic"/>
              </a:rPr>
              <a:t>○ ● 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  <a:eastAsia typeface="Yu Gothic"/>
              </a:rPr>
              <a:t>定常運用の規模感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150876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400" b="1" i="0">
                <a:solidFill>
                  <a:srgbClr val="1E2761"/>
                </a:solidFill>
                <a:eastAsia typeface="Yu Gothic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eastAsia typeface="Yu Gothic"/>
              </a:rPr>
              <a:t>SubAgent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eastAsia typeface="Yu Gothic"/>
              </a:rPr>
              <a:t>.claude/agents/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657600" cy="150876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874519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400" b="1" i="0">
                <a:solidFill>
                  <a:srgbClr val="1E2761"/>
                </a:solidFill>
                <a:eastAsia typeface="Yu Gothic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88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eastAsia typeface="Yu Gothic"/>
              </a:rPr>
              <a:t>Slash 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0632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eastAsia typeface="Yu Gothic"/>
              </a:rPr>
              <a:t>.claude/commands/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657600" cy="150876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874519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400" b="1" i="0">
                <a:solidFill>
                  <a:srgbClr val="1E2761"/>
                </a:solidFill>
                <a:eastAsia typeface="Y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88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eastAsia typeface="Yu Gothic"/>
              </a:rPr>
              <a:t>定期実行バンドル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632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eastAsia typeface="Yu Gothic"/>
              </a:rPr>
              <a:t>30分 / 8:00 / 月9:00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204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  <a:eastAsia typeface="Yu Gothic"/>
              </a:rPr>
              <a:t>稼働実績（2026-04-30 にパイプライン基盤を投入してから）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3657600" cy="12801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  <a:eastAsia typeface="Yu Gothic"/>
              </a:rPr>
              <a:t>197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eastAsia typeface="Yu Gothic"/>
              </a:rPr>
              <a:t>ステータス遷移回数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931920"/>
            <a:ext cx="3657600" cy="12801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93192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  <a:eastAsia typeface="Yu Gothic"/>
              </a:rPr>
              <a:t>560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eastAsia typeface="Yu Gothic"/>
              </a:rPr>
              <a:t>Linear API 書込回数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931920"/>
            <a:ext cx="3657600" cy="12801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93192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  <a:eastAsia typeface="Yu Gothic"/>
              </a:rPr>
              <a:t>31+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eastAsia typeface="Yu Gothic"/>
              </a:rPr>
              <a:t>Done 済 issue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32120"/>
            <a:ext cx="11155680" cy="8686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53212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eastAsia typeface="Yu Gothic"/>
              </a:rPr>
              <a:t>人間がやるのは2つだけ：①  やりたいことを投げる   ②  優先順位をつける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eastAsia typeface="Yu Gothic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パイプラインの全体像：通常は Human in Review を通らずにマージまで進む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  <a:eastAsia typeface="Yu Gothic"/>
              </a:rP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502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eastAsia typeface="Yu Gothic"/>
              </a:rPr>
              <a:t>○ ● 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" y="566928"/>
            <a:ext cx="91440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5943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ADCFC"/>
                </a:solidFill>
                <a:eastAsia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" y="896112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eastAsia typeface="Yu Gothic"/>
              </a:rPr>
              <a:t>人間
判断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6928"/>
            <a:ext cx="10972800" cy="64008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21331" y="630936"/>
            <a:ext cx="1763485" cy="51206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1059" y="658368"/>
            <a:ext cx="15440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eastAsia typeface="Yu Gothic"/>
              </a:rPr>
              <a:t>★ todo に昇格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1059" y="932688"/>
            <a:ext cx="15440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12933"/>
                </a:solidFill>
                <a:eastAsia typeface="Yu Gothic"/>
              </a:rPr>
              <a:t>着手承認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4245" y="630936"/>
            <a:ext cx="2220685" cy="51206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3973" y="658368"/>
            <a:ext cx="2001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eastAsia typeface="Yu Gothic"/>
              </a:rPr>
              <a:t>★ Human in Review に返信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3973" y="932688"/>
            <a:ext cx="20012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12933"/>
                </a:solidFill>
                <a:eastAsia typeface="Yu Gothic"/>
              </a:rPr>
              <a:t>仕様判断が必要なときだけ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" y="1298448"/>
            <a:ext cx="914400" cy="5943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" y="13258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ADCFC"/>
                </a:solidFill>
                <a:eastAsia typeface="Yu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1627631"/>
            <a:ext cx="9144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eastAsia typeface="Yu Gothic"/>
              </a:rPr>
              <a:t>ステータス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1298448"/>
            <a:ext cx="10972800" cy="59436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1371600"/>
            <a:ext cx="1489165" cy="448056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  <a:eastAsia typeface="Yu Gothic"/>
              </a:rPr>
              <a:t>draft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86445" y="1595628"/>
            <a:ext cx="91440" cy="0"/>
          </a:xfrm>
          <a:prstGeom prst="line">
            <a:avLst/>
          </a:prstGeom>
          <a:ln w="19050">
            <a:solidFill>
              <a:srgbClr val="1E276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677885" y="1371600"/>
            <a:ext cx="1489165" cy="448056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7885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  <a:eastAsia typeface="Yu Gothic"/>
              </a:rPr>
              <a:t>backlog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67051" y="1595628"/>
            <a:ext cx="91440" cy="0"/>
          </a:xfrm>
          <a:prstGeom prst="line">
            <a:avLst/>
          </a:prstGeom>
          <a:ln w="19050">
            <a:solidFill>
              <a:srgbClr val="1E276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258491" y="1371600"/>
            <a:ext cx="1489165" cy="44805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8491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eastAsia typeface="Yu Gothic"/>
              </a:rPr>
              <a:t>todo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7657" y="1595628"/>
            <a:ext cx="91440" cy="0"/>
          </a:xfrm>
          <a:prstGeom prst="line">
            <a:avLst/>
          </a:prstGeom>
          <a:ln w="19050">
            <a:solidFill>
              <a:srgbClr val="1E276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839097" y="1371600"/>
            <a:ext cx="1489165" cy="448056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9097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  <a:eastAsia typeface="Yu Gothic"/>
              </a:rPr>
              <a:t>In Progress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28262" y="1595628"/>
            <a:ext cx="91440" cy="0"/>
          </a:xfrm>
          <a:prstGeom prst="line">
            <a:avLst/>
          </a:prstGeom>
          <a:ln w="19050">
            <a:solidFill>
              <a:srgbClr val="1E276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419702" y="1371600"/>
            <a:ext cx="1489165" cy="448056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19702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  <a:eastAsia typeface="Yu Gothic"/>
              </a:rPr>
              <a:t>in Review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08868" y="1595628"/>
            <a:ext cx="91440" cy="0"/>
          </a:xfrm>
          <a:prstGeom prst="line">
            <a:avLst/>
          </a:prstGeom>
          <a:ln w="31750">
            <a:solidFill>
              <a:srgbClr val="1E276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00308" y="1371600"/>
            <a:ext cx="1489165" cy="448056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0308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ADCFC"/>
                </a:solidFill>
                <a:eastAsia typeface="Yu Gothic"/>
              </a:rPr>
              <a:t>Reviewed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489474" y="1595628"/>
            <a:ext cx="91440" cy="0"/>
          </a:xfrm>
          <a:prstGeom prst="line">
            <a:avLst/>
          </a:prstGeom>
          <a:ln w="19050">
            <a:solidFill>
              <a:srgbClr val="1E276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580914" y="1371600"/>
            <a:ext cx="1489165" cy="448056"/>
          </a:xfrm>
          <a:prstGeom prst="roundRect">
            <a:avLst/>
          </a:prstGeom>
          <a:solidFill>
            <a:srgbClr val="4A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80914" y="1371600"/>
            <a:ext cx="1489165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eastAsia typeface="Yu Gothic"/>
              </a:rPr>
              <a:t>Done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10005" y="2011680"/>
            <a:ext cx="1489165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0005" y="2011680"/>
            <a:ext cx="148916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eastAsia typeface="Yu Gothic"/>
              </a:rPr>
              <a:t>Human in Review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8347165" y="1892807"/>
            <a:ext cx="424543" cy="118873"/>
          </a:xfrm>
          <a:prstGeom prst="line">
            <a:avLst/>
          </a:prstGeom>
          <a:ln w="9525">
            <a:solidFill>
              <a:srgbClr val="F59E0B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9137468" y="1892807"/>
            <a:ext cx="424543" cy="118873"/>
          </a:xfrm>
          <a:prstGeom prst="line">
            <a:avLst/>
          </a:prstGeom>
          <a:ln w="9525">
            <a:solidFill>
              <a:srgbClr val="F59E0B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003074" y="1207007"/>
            <a:ext cx="0" cy="91441"/>
          </a:xfrm>
          <a:prstGeom prst="line">
            <a:avLst/>
          </a:prstGeom>
          <a:ln w="12700">
            <a:solidFill>
              <a:srgbClr val="F59E0B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54588" y="1207007"/>
            <a:ext cx="0" cy="804673"/>
          </a:xfrm>
          <a:prstGeom prst="line">
            <a:avLst/>
          </a:prstGeom>
          <a:ln w="12700">
            <a:solidFill>
              <a:srgbClr val="F59E0B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1440" y="2542032"/>
            <a:ext cx="914400" cy="26060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" y="2569463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ADCFC"/>
                </a:solidFill>
                <a:eastAsia typeface="Yu Gothic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" y="2871215"/>
            <a:ext cx="914400" cy="2276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eastAsia typeface="Yu Gothic"/>
              </a:rPr>
              <a:t>SubAgent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2542032"/>
            <a:ext cx="10972800" cy="2606040"/>
          </a:xfrm>
          <a:prstGeom prst="roundRect">
            <a:avLst/>
          </a:prstGeom>
          <a:solidFill>
            <a:srgbClr val="FD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677885" y="302209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23605" y="308610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eastAsia typeface="Yu Gothic"/>
              </a:rPr>
              <a:t>create_prd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23605" y="338785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kobaamd_create_prd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77885" y="389077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23605" y="395478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eastAsia typeface="Yu Gothic"/>
              </a:rPr>
              <a:t>review_prd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23605" y="425653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kobaamd_review_prd → create_prd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58491" y="345643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04211" y="352044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eastAsia typeface="Yu Gothic"/>
              </a:rPr>
              <a:t>(assign_work)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04211" y="382219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 only ※SubAgent化なし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839097" y="302209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84817" y="308610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eastAsia typeface="Yu Gothic"/>
              </a:rPr>
              <a:t>implement_code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84817" y="338785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kobaamd_implement_code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39097" y="389077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84817" y="395478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eastAsia typeface="Yu Gothic"/>
              </a:rPr>
              <a:t>validate_build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84817" y="425653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kobaamd_validate_build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19702" y="258775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65422" y="265176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eastAsia typeface="Yu Gothic"/>
              </a:rPr>
              <a:t>review_pr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65422" y="295351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kobaamd_review_pr → carve_concerns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19702" y="345643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65422" y="352044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eastAsia typeface="Yu Gothic"/>
              </a:rPr>
              <a:t>review_security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65422" y="382219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kobaamd_review_security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19702" y="432511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65422" y="438912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eastAsia typeface="Yu Gothic"/>
              </a:rPr>
              <a:t>fix_pr_comments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65422" y="469087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kobaamd_fix_pr_comments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00308" y="345643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46028" y="352044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eastAsia typeface="Yu Gothic"/>
              </a:rPr>
              <a:t>merge_pr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46028" y="382219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kobaamd_merge_pr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580914" y="302209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26634" y="308610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eastAsia typeface="Yu Gothic"/>
              </a:rPr>
              <a:t>review_postmortem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26634" y="338785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same → update_wiki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580914" y="3890772"/>
            <a:ext cx="148916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95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626634" y="3954780"/>
            <a:ext cx="13977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695A9"/>
                </a:solidFill>
                <a:eastAsia typeface="Yu Gothic"/>
              </a:rPr>
              <a:t>update_wiki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26634" y="4256532"/>
            <a:ext cx="13977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eastAsia typeface="Yu Gothic"/>
              </a:rPr>
              <a:t>Slash: same → lint_wiki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882051" y="2011680"/>
            <a:ext cx="1946365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3491" y="2057400"/>
            <a:ext cx="176348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eastAsia typeface="Yu Gothic"/>
              </a:rPr>
              <a:t>rework_issue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73491" y="2240280"/>
            <a:ext cx="176348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eastAsia typeface="Yu Gothic"/>
              </a:rPr>
              <a:t>Slash: same → carve_concerns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699171" y="2217420"/>
            <a:ext cx="182880" cy="0"/>
          </a:xfrm>
          <a:prstGeom prst="line">
            <a:avLst/>
          </a:prstGeom>
          <a:ln w="9525">
            <a:solidFill>
              <a:srgbClr val="F59E0B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422468" y="1892807"/>
            <a:ext cx="0" cy="112928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422468" y="1892807"/>
            <a:ext cx="0" cy="199796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003074" y="1892807"/>
            <a:ext cx="0" cy="156362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583680" y="1892807"/>
            <a:ext cx="0" cy="112928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583680" y="1892807"/>
            <a:ext cx="0" cy="199796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164285" y="1892807"/>
            <a:ext cx="0" cy="69494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164285" y="1892807"/>
            <a:ext cx="0" cy="156362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164285" y="1892807"/>
            <a:ext cx="0" cy="243230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744891" y="1892807"/>
            <a:ext cx="0" cy="156362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325497" y="1892807"/>
            <a:ext cx="0" cy="112928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325497" y="1892807"/>
            <a:ext cx="0" cy="1997965"/>
          </a:xfrm>
          <a:prstGeom prst="line">
            <a:avLst/>
          </a:prstGeom>
          <a:ln w="7620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91440" y="5257800"/>
            <a:ext cx="914400" cy="1417320"/>
          </a:xfrm>
          <a:prstGeom prst="roundRect">
            <a:avLst/>
          </a:prstGeom>
          <a:solidFill>
            <a:srgbClr val="4A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1440" y="52852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ADCFC"/>
                </a:solidFill>
                <a:eastAsia typeface="Yu Gothic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440" y="5586984"/>
            <a:ext cx="914400" cy="1088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eastAsia typeface="Yu Gothic"/>
              </a:rPr>
              <a:t>成果物
(記憶)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97280" y="5257800"/>
            <a:ext cx="10972800" cy="1417320"/>
          </a:xfrm>
          <a:prstGeom prst="roundRect">
            <a:avLst/>
          </a:prstGeom>
          <a:solidFill>
            <a:srgbClr val="E3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188720" y="5349240"/>
            <a:ext cx="3535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88720" y="5440679"/>
            <a:ext cx="353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8B5CF6"/>
                </a:solidFill>
                <a:eastAsia typeface="Yu Gothic"/>
              </a:rPr>
              <a:t>PRD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" y="5806440"/>
            <a:ext cx="353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eastAsia typeface="Yu Gothic"/>
              </a:rPr>
              <a:t>要件・設計判断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80160" y="6099048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eastAsia typeface="Yu Gothic"/>
              </a:rPr>
              <a:t>OUT: create_prd / review_prd / rework_issue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80160" y="6300216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eastAsia typeface="Yu Gothic"/>
              </a:rPr>
              <a:t>IN: implement_code / review_pr / rework_issue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770120" y="5349240"/>
            <a:ext cx="3535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95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70120" y="5440679"/>
            <a:ext cx="353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695A9"/>
                </a:solidFill>
                <a:eastAsia typeface="Yu Gothic"/>
              </a:rPr>
              <a:t>Wiki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70120" y="5806440"/>
            <a:ext cx="353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eastAsia typeface="Yu Gothic"/>
              </a:rPr>
              <a:t>知識ベース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61560" y="6099048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695A9"/>
                </a:solidFill>
                <a:eastAsia typeface="Yu Gothic"/>
              </a:rPr>
              <a:t>OUT: update_wiki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61560" y="6300216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eastAsia typeface="Yu Gothic"/>
              </a:rPr>
              <a:t>IN: review_pr / review_postmortem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351520" y="5349240"/>
            <a:ext cx="3535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351520" y="5440679"/>
            <a:ext cx="353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eastAsia typeface="Yu Gothic"/>
              </a:rPr>
              <a:t>Postmortem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51520" y="5806440"/>
            <a:ext cx="353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eastAsia typeface="Yu Gothic"/>
              </a:rPr>
              <a:t>学び・振り返り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42960" y="6099048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eastAsia typeface="Yu Gothic"/>
              </a:rPr>
              <a:t>OUT: review_postmortem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442960" y="6300216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eastAsia typeface="Yu Gothic"/>
              </a:rPr>
              <a:t>IN: update_wiki</a:t>
            </a:r>
          </a:p>
        </p:txBody>
      </p:sp>
      <p:cxnSp>
        <p:nvCxnSpPr>
          <p:cNvPr id="116" name="Connector 115"/>
          <p:cNvCxnSpPr/>
          <p:nvPr/>
        </p:nvCxnSpPr>
        <p:spPr>
          <a:xfrm flipH="1">
            <a:off x="2682240" y="3799332"/>
            <a:ext cx="740228" cy="1549908"/>
          </a:xfrm>
          <a:prstGeom prst="line">
            <a:avLst/>
          </a:prstGeom>
          <a:ln w="19050">
            <a:solidFill>
              <a:srgbClr val="8B5CF6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2956560" y="4668012"/>
            <a:ext cx="465908" cy="681228"/>
          </a:xfrm>
          <a:prstGeom prst="line">
            <a:avLst/>
          </a:prstGeom>
          <a:ln w="12700">
            <a:solidFill>
              <a:srgbClr val="8B5CF6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3230880" y="2423160"/>
            <a:ext cx="7624354" cy="2926080"/>
          </a:xfrm>
          <a:prstGeom prst="line">
            <a:avLst/>
          </a:prstGeom>
          <a:ln w="12700">
            <a:solidFill>
              <a:srgbClr val="8B5CF6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6537960" y="4668012"/>
            <a:ext cx="4787537" cy="681228"/>
          </a:xfrm>
          <a:prstGeom prst="line">
            <a:avLst/>
          </a:prstGeom>
          <a:ln w="19050">
            <a:solidFill>
              <a:srgbClr val="0695A9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10119360" y="3799332"/>
            <a:ext cx="1206137" cy="1549908"/>
          </a:xfrm>
          <a:prstGeom prst="line">
            <a:avLst/>
          </a:prstGeom>
          <a:ln w="19050">
            <a:solidFill>
              <a:srgbClr val="10B98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3322320" y="3799332"/>
            <a:ext cx="3261360" cy="1549908"/>
          </a:xfrm>
          <a:prstGeom prst="line">
            <a:avLst/>
          </a:prstGeom>
          <a:ln w="10160">
            <a:solidFill>
              <a:srgbClr val="8B5CF6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355080" y="3364992"/>
            <a:ext cx="1809205" cy="1984248"/>
          </a:xfrm>
          <a:prstGeom prst="line">
            <a:avLst/>
          </a:prstGeom>
          <a:ln w="10160">
            <a:solidFill>
              <a:srgbClr val="0695A9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753600" y="4668012"/>
            <a:ext cx="1571897" cy="681228"/>
          </a:xfrm>
          <a:prstGeom prst="line">
            <a:avLst/>
          </a:prstGeom>
          <a:ln w="10160">
            <a:solidFill>
              <a:srgbClr val="10B981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5943600" y="137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6B7280"/>
                </a:solidFill>
                <a:eastAsia typeface="Yu Gothic"/>
              </a:rPr>
              <a:t>実線 = 出力（OUT） ／ 点線 = 入力（IN）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育成期：詰まりは、仕組みを育てる材料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Phase 2 ─ 詰まりごとに、仕組みを継ぎ足してチューニング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  <a:eastAsia typeface="Yu Gothic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eastAsia typeface="Yu Gothic"/>
              </a:rPr>
              <a:t>○ ● 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86400" cy="219456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91440" cy="2194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3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eastAsia typeface="Yu Gothic"/>
              </a:rPr>
              <a:t>状態ループ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51206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12933"/>
                </a:solidFill>
                <a:eastAsia typeface="Yu Gothic"/>
              </a:rPr>
              <a:t>KMD-145 ─ In Progress ↔ Todo を 5 回以上往復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AIレビューが REQUEST_CHANGES → 修正 → 同じ指摘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280"/>
                </a:solidFill>
                <a:eastAsia typeface="Yu Gothic"/>
              </a:rPr>
              <a:t>コメント原文（一部）：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12933"/>
                </a:solidFill>
                <a:eastAsia typeface="Yu Gothic"/>
              </a:rPr>
              <a:t>「PRD Section 8 影響範囲マップに記載されていない…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12933"/>
                </a:solidFill>
                <a:eastAsia typeface="Yu Gothic"/>
              </a:rPr>
              <a:t>  Sparkle 変更だけが残存」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08760"/>
            <a:ext cx="5486400" cy="219456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508760"/>
            <a:ext cx="91440" cy="2194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3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eastAsia typeface="Yu Gothic"/>
              </a:rPr>
              <a:t>コメントスルー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1206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12933"/>
                </a:solidFill>
                <a:eastAsia typeface="Yu Gothic"/>
              </a:rPr>
              <a:t>KMD-119 ─ Human in Review で 72時間以上停滞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AIが新規コメントを検出できず再開しない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6B7280"/>
                </a:solidFill>
                <a:eastAsia typeface="Yu Gothic"/>
              </a:rPr>
              <a:t>→ 人間がリマインドしないと進まない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5486400" cy="219456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91440" cy="2194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977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eastAsia typeface="Yu Gothic"/>
              </a:rPr>
              <a:t>トークン枯渇で停止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389120"/>
            <a:ext cx="51206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12933"/>
                </a:solidFill>
                <a:eastAsia typeface="Yu Gothic"/>
              </a:rPr>
              <a:t>想定外の途中停止（rate limit / context limit）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復旧には人間の介入が必要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6B7280"/>
                </a:solidFill>
                <a:eastAsia typeface="Yu Gothic"/>
              </a:rPr>
              <a:t>→ 入口でリソース見積もりが必要だった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794760"/>
            <a:ext cx="5486400" cy="219456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794760"/>
            <a:ext cx="91440" cy="2194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eastAsia typeface="Yu Gothic"/>
              </a:rPr>
              <a:t>デグレに気付かない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51206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12933"/>
                </a:solidFill>
                <a:eastAsia typeface="Yu Gothic"/>
              </a:rPr>
              <a:t>ビルド通れば「ヨシ！」と先に進む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33"/>
                </a:solidFill>
                <a:eastAsia typeface="Yu Gothic"/>
              </a:rPr>
              <a:t>UI が崩れていても AI は検知できない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12933"/>
                </a:solidFill>
                <a:eastAsia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6B7280"/>
                </a:solidFill>
                <a:eastAsia typeface="Yu Gothic"/>
              </a:rPr>
              <a:t>→ E2E UX の自動検証は別の仕組みが必要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126480"/>
            <a:ext cx="1115568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1">
                <a:solidFill>
                  <a:srgbClr val="1E2761"/>
                </a:solidFill>
                <a:eastAsia typeface="Yu Gothic"/>
              </a:rPr>
              <a:t>→ 詰まりごとに、仕組みを育てる材料が見つかる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eastAsia typeface="Yu Gothic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課題 → 対応：仕組みを育てる3軸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Phase 2 ─ 仕組みは育てるもの。一度作って終わりではない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  <a:eastAsia typeface="Yu Gothic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eastAsia typeface="Yu Gothic"/>
              </a:rPr>
              <a:t>○ ● 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1810512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19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eastAsia typeface="Yu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6916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eastAsia typeface="Yu Gothic"/>
              </a:rPr>
              <a:t>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2933"/>
                </a:solidFill>
                <a:eastAsia typeface="Yu Gothic"/>
              </a:rPr>
              <a:t>SubAgent が起動するたびに
プロジェクト文脈を持っていない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3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eastAsia typeface="Yu Gothic"/>
              </a:rPr>
              <a:t>毎回ゼロから状況把握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3359505"/>
            <a:ext cx="0" cy="362103"/>
          </a:xfrm>
          <a:prstGeom prst="line">
            <a:avLst/>
          </a:prstGeom>
          <a:ln w="25400">
            <a:solidFill>
              <a:srgbClr val="F59E0B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3721608"/>
            <a:ext cx="3657600" cy="1810512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044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eastAsia typeface="Yu Gothic"/>
              </a:rPr>
              <a:t>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245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eastAsia typeface="Yu Gothic"/>
              </a:rPr>
              <a:t>LLM-Wiki を整備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9028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eastAsia typeface="Yu Gothic"/>
              </a:rPr>
              <a:t>Prompt Caching 経由で
SubAgent に即座に文脈共有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508760"/>
            <a:ext cx="3657600" cy="1810512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45919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eastAsia typeface="Yu Gothi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6916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eastAsia typeface="Yu Gothic"/>
              </a:rPr>
              <a:t>課題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2933"/>
                </a:solidFill>
                <a:eastAsia typeface="Yu Gothic"/>
              </a:rPr>
              <a:t>token がすぐ尽きる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37743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eastAsia typeface="Yu Gothic"/>
              </a:rPr>
              <a:t>重いタスクほど枯渇しやすい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3359505"/>
            <a:ext cx="0" cy="362103"/>
          </a:xfrm>
          <a:prstGeom prst="line">
            <a:avLst/>
          </a:prstGeom>
          <a:ln w="25400">
            <a:solidFill>
              <a:srgbClr val="F59E0B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97680" y="3721608"/>
            <a:ext cx="3657600" cy="1810512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9044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eastAsia typeface="Yu Gothic"/>
              </a:rPr>
              <a:t>対応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2245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eastAsia typeface="Yu Gothic"/>
              </a:rPr>
              <a:t>Caching・参照削減・軽量モデル併用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59028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eastAsia typeface="Yu Gothic"/>
              </a:rPr>
              <a:t>Sonnet / Haiku を併用、
推論力に応じて使い分ける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508760"/>
            <a:ext cx="3657600" cy="1810512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645919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eastAsia typeface="Yu Gothi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16916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eastAsia typeface="Yu Gothic"/>
              </a:rPr>
              <a:t>課題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2933"/>
                </a:solidFill>
                <a:eastAsia typeface="Yu Gothic"/>
              </a:rPr>
              <a:t>同じ詰まりを別 issue で繰り返す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7743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eastAsia typeface="Yu Gothic"/>
              </a:rPr>
              <a:t>学びが個別 issue に閉じている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5520" y="3359505"/>
            <a:ext cx="0" cy="362103"/>
          </a:xfrm>
          <a:prstGeom prst="line">
            <a:avLst/>
          </a:prstGeom>
          <a:ln w="25400">
            <a:solidFill>
              <a:srgbClr val="F59E0B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46720" y="3721608"/>
            <a:ext cx="3657600" cy="1810512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9044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eastAsia typeface="Yu Gothic"/>
              </a:rPr>
              <a:t>対応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2245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eastAsia typeface="Yu Gothic"/>
              </a:rPr>
              <a:t>Postmortem を Wiki へ ingest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9028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eastAsia typeface="Yu Gothic"/>
              </a:rPr>
              <a:t>learnings を update_wiki が
統合 → 次セッションが学習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669280"/>
            <a:ext cx="11155680" cy="868680"/>
          </a:xfrm>
          <a:prstGeom prst="roundRect">
            <a:avLst/>
          </a:prstGeom>
          <a:solidFill>
            <a:srgbClr val="FDE6E6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eastAsia typeface="Yu Gothic"/>
              </a:rPr>
              <a:t>★ 限界：E2E の UX 評価は AI にできない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1264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12933"/>
                </a:solidFill>
                <a:eastAsia typeface="Yu Gothic"/>
              </a:rPr>
              <a:t>「動く」と「使える」は違う。最後は人間が触らないと判断できない領域がある  ─  Phase 3 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eastAsia typeface="Yu Gothic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eastAsia typeface="Yu Gothic"/>
              </a:rPr>
              <a:t>Phase 2 で気付いたこと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  <a:eastAsia typeface="Yu Gothic"/>
              </a:rP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502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CADCFC"/>
                </a:solidFill>
                <a:eastAsia typeface="Yu Gothic"/>
              </a:rPr>
              <a:t>○ ● 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eastAsia typeface="Yu Gothic"/>
              </a:rPr>
              <a:t>本質的発見：AI を伸ばすのは、人間の任せ方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ADCFC"/>
                </a:solidFill>
                <a:eastAsia typeface="Yu Gothic"/>
              </a:rPr>
              <a:t>詰まりの根本は、AI ではなく自分の任せ方にあった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3657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eastAsia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546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eastAsia typeface="Yu Gothic"/>
              </a:rPr>
              <a:t>指示が曖昧だと
出力も曖昧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1605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12933"/>
                </a:solidFill>
                <a:eastAsia typeface="Yu Gothic"/>
              </a:rPr>
              <a:t>「いい感じに」では
人間でも同じ結果。
期待値とゴールを言語化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331720"/>
            <a:ext cx="3657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eastAsia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546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eastAsia typeface="Yu Gothic"/>
              </a:rPr>
              <a:t>手順を渡さないと
逐次質問される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1605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12933"/>
                </a:solidFill>
                <a:eastAsia typeface="Yu Gothic"/>
              </a:rPr>
              <a:t>新人が毎回上長に
確認するのと同じ。
手順は外在化する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331720"/>
            <a:ext cx="3657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5146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eastAsia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546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eastAsia typeface="Yu Gothic"/>
              </a:rPr>
              <a:t>AI には『積み重ね
の記憶』がない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1605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12933"/>
                </a:solidFill>
                <a:eastAsia typeface="Yu Gothic"/>
              </a:rPr>
              <a:t>経験で次手を推測できない。
記憶を毎回プロンプトで
再現する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1155680" cy="12801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4924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1">
                <a:solidFill>
                  <a:srgbClr val="1E2761"/>
                </a:solidFill>
                <a:eastAsia typeface="Yu Gothic"/>
              </a:rPr>
              <a:t>新人エンジニアと同じ。期待値を伝え、手順を渡し、引き継ぎ書を残す。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0644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E2761"/>
                </a:solidFill>
                <a:eastAsia typeface="Yu Gothic"/>
              </a:rPr>
              <a:t>対処：仕事の手順を Slash Command / SubAgent（つまり md）に落とした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17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1E2761"/>
                </a:solidFill>
                <a:eastAsia typeface="Yu Gothic"/>
              </a:rPr>
              <a:t>─ 再現可能な「育て方」に変えた 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Phase 3：QCD を磨く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eastAsia typeface="Yu Gothic"/>
              </a:rPr>
              <a:t>最適化期 ─ 走らせながら、品質・コスト・納期を磨く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74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  <a:eastAsia typeface="Yu Gothic"/>
              </a:rP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eastAsia typeface="Yu Gothic"/>
              </a:rPr>
              <a:t>○ ○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57600" cy="47548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57600" cy="7772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CADCFC"/>
                </a:solidFill>
                <a:eastAsia typeface="Yu Gothic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5448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eastAsia typeface="Yu Gothic"/>
              </a:rPr>
              <a:t>Quality（品質）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060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E2E の UX 検証を
Gemini あたりに任せる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06908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12933"/>
                </a:solidFill>
                <a:eastAsia typeface="Yu Gothic"/>
              </a:rPr>
              <a:t>「動く」と「使える」のギャップを、
マルチモーダル AI で自動化して埋める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657600" cy="47548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657600" cy="7772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5544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CADCFC"/>
                </a:solidFill>
                <a:eastAsia typeface="Yu Gothic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55448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eastAsia typeface="Yu Gothic"/>
              </a:rPr>
              <a:t>Cost（コスト）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060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軽量モデル併用で
token 消費を最適化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12933"/>
                </a:solidFill>
                <a:eastAsia typeface="Yu Gothic"/>
              </a:rPr>
              <a:t>Sonnet / Haiku を適材適所で使い、
単価を下げながらスループットを上げる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657600" cy="47548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1554480"/>
            <a:ext cx="3657600" cy="7772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5544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CADCFC"/>
                </a:solidFill>
                <a:eastAsia typeface="Yu Gothic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55448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eastAsia typeface="Yu Gothic"/>
              </a:rPr>
              <a:t>Delivery（納期）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060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「人間が判断すべきか？」
を疑い続ける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6908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12933"/>
                </a:solidFill>
                <a:eastAsia typeface="Yu Gothic"/>
              </a:rPr>
              <a:t>残った人間ゲートをさらに減らせないか。
リードタイムを短くする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F59E0B"/>
                </a:solidFill>
                <a:eastAsia typeface="Yu Gothic"/>
              </a:rPr>
              <a:t>─  仕組みを作るのは、人間の仕事  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eastAsia typeface="Yu Gothic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eastAsia typeface="Yu Gothic"/>
              </a:rPr>
              <a:t>伝えたい3つのこと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657600" cy="42976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7830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  <a:eastAsia typeface="Yu Gothi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59" y="2606040"/>
            <a:ext cx="9144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74320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AI を道具と思わず
人だと仮定して
仕組みを作ろう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4348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プロセス・ルール・手順の外在化が前提。
対話だけで動かそうとしない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657600" cy="42976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  <a:eastAsia typeface="Yu Gothic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606040"/>
            <a:ext cx="9144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AI が伸び悩んだら
仕組みで支えよう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4348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「AIが詰まった」で終わらせない。
指示・手順・環境のどこを磨くか考える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657600" cy="4297680"/>
          </a:xfrm>
          <a:prstGeom prst="round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  <a:eastAsia typeface="Yu Gothic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606040"/>
            <a:ext cx="9144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eastAsia typeface="Yu Gothic"/>
              </a:rPr>
              <a:t>急に振りすぎない
優先順位をつけて
渡そう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4348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12933"/>
                </a:solidFill>
                <a:eastAsia typeface="Yu Gothic"/>
              </a:rPr>
              <a:t>並列で振りすぎるとコンフリクト多発。
WIP を絞り、順番を決める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989320"/>
            <a:ext cx="11155680" cy="3657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0807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1">
                <a:solidFill>
                  <a:srgbClr val="1E2761"/>
                </a:solidFill>
                <a:eastAsia typeface="Yu Gothic"/>
              </a:rPr>
              <a:t>結局、AI Agent も、人間のチームと同じように育てていく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eastAsia typeface="Yu Gothic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eastAsia typeface="Yu Gothic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eastAsia typeface="Yu Gothic"/>
              </a:rPr>
              <a:t>AI マネジメントは、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 i="0">
                <a:solidFill>
                  <a:srgbClr val="CADCFC"/>
                </a:solidFill>
                <a:eastAsia typeface="Yu Gothic"/>
              </a:rPr>
              <a:t>より良い任せ方を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 i="0">
                <a:solidFill>
                  <a:srgbClr val="CADCFC"/>
                </a:solidFill>
                <a:eastAsia typeface="Yu Gothic"/>
              </a:rPr>
              <a:t>磨いていく旅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206240"/>
            <a:ext cx="484632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eastAsia typeface="Yu Gothic"/>
              </a:rPr>
              <a:t>Phase 1  →  まず AI と一緒に作ってみる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00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eastAsia typeface="Yu Gothic"/>
              </a:rPr>
              <a:t>Phase 2  →  仕組みで AI チームを伸ばす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eastAsia typeface="Yu Gothic"/>
              </a:rPr>
              <a:t>Phase 3  →  QCD を磨く  ─  これからも仕組みを育てていく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760720"/>
            <a:ext cx="9418320" cy="7772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760720"/>
            <a:ext cx="9418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eastAsia typeface="Yu Gothic"/>
              </a:rPr>
              <a:t>github.com/kobaaam/kobaamd  /  Slack: @kobaan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