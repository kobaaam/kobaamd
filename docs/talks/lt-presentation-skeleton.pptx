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CADCFC"/>
                </a:solidFill>
                <a:eastAsia typeface="Yu Gothic"/>
              </a:rPr>
              <a:t>悪いマネージャーだった話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eastAsia typeface="Yu Gothic"/>
              </a:rPr>
              <a:t>AIを自律的に動かす開発パイプライン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eastAsia typeface="Yu Gothic"/>
              </a:rPr>
              <a:t>個人OSS kobaamd の開発実験から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eastAsia typeface="Yu Gothic"/>
              </a:rPr>
              <a:t>小林 浩  / 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なぜ Markdown Editor を作るのか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個人OSS kobaamd の動機 ─ Markdown が欲しかった理由 / AI駆動を本気で試したかった理由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486400" cy="411480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  <a:eastAsia typeface="Yu Gothic"/>
              </a:rPr>
              <a:t>① Markdown Editor が欲しかった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12933"/>
                </a:solidFill>
                <a:eastAsia typeface="Yu Gothic"/>
              </a:rPr>
              <a:t>AI 時代、Markdown は事実上の標準フォーマット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6B7280"/>
                </a:solidFill>
                <a:eastAsia typeface="Yu Gothic"/>
              </a:rPr>
              <a:t>でも既存エディタは…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12933"/>
                </a:solidFill>
                <a:eastAsia typeface="Yu Gothic"/>
              </a:rPr>
              <a:t>  ・ 重い（IDE系）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12933"/>
                </a:solidFill>
                <a:eastAsia typeface="Yu Gothic"/>
              </a:rPr>
              <a:t>  ・ クラウド前提（Notion / Obsidian Sync）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12933"/>
                </a:solidFill>
                <a:eastAsia typeface="Yu Gothic"/>
              </a:rPr>
              <a:t>  ・ Mac native 体験が薄い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1" i="1">
                <a:solidFill>
                  <a:srgbClr val="F59E0B"/>
                </a:solidFill>
                <a:eastAsia typeface="Yu Gothic"/>
              </a:rPr>
              <a:t>→ 自分が一番使いたい道具がないなら作る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486400" cy="411480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  <a:eastAsia typeface="Yu Gothic"/>
              </a:rPr>
              <a:t>② AI駆動を本気で試したかった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12933"/>
                </a:solidFill>
                <a:eastAsia typeface="Yu Gothic"/>
              </a:rPr>
              <a:t>EM歴は長いが、モダンWeb・Mac native は素人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6B7280"/>
                </a:solidFill>
                <a:eastAsia typeface="Yu Gothic"/>
              </a:rPr>
              <a:t>「エンジニアじゃない自分でも、</a:t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6B7280"/>
                </a:solidFill>
                <a:eastAsia typeface="Yu Gothic"/>
              </a:rPr>
              <a:t>   AI に頼れば作れるのか？」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12933"/>
                </a:solidFill>
                <a:eastAsia typeface="Yu Gothic"/>
              </a:rPr>
              <a:t>実験場としてちょうどよい OSS 規模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1" i="1">
                <a:solidFill>
                  <a:srgbClr val="F59E0B"/>
                </a:solidFill>
                <a:eastAsia typeface="Yu Gothic"/>
              </a:rPr>
              <a:t>→ kobaamd の開発は AI 任せで進める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1E2761"/>
                </a:solidFill>
                <a:eastAsia typeface="Yu Gothic"/>
              </a:rPr>
              <a:t>このLTのゴール：個人OSSで得た学びを、皆さんの業務に持ち込めるように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題材：kobaamd の規模感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2026-04-19 開始 → 21日間で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3657600" cy="20116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0" b="1" i="0">
                <a:solidFill>
                  <a:srgbClr val="1E2761"/>
                </a:solidFill>
                <a:eastAsia typeface="Yu Gothic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eastAsia typeface="Yu Gothic"/>
              </a:rPr>
              <a:t>日間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103120"/>
            <a:ext cx="3657600" cy="20116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19456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0" b="1" i="0">
                <a:solidFill>
                  <a:srgbClr val="1E2761"/>
                </a:solidFill>
                <a:eastAsia typeface="Yu Gothic"/>
              </a:rPr>
              <a:t>167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5204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eastAsia typeface="Yu Gothic"/>
              </a:rPr>
              <a:t>コミット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657600" cy="20116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0" b="1" i="0">
                <a:solidFill>
                  <a:srgbClr val="1E2761"/>
                </a:solidFill>
                <a:eastAsia typeface="Yu Gothic"/>
              </a:rPr>
              <a:t>≈100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5204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eastAsia typeface="Yu Gothic"/>
              </a:rPr>
              <a:t>マージ 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80560"/>
            <a:ext cx="11155680" cy="1371600"/>
          </a:xfrm>
          <a:prstGeom prst="rect">
            <a:avLst/>
          </a:prstGeom>
          <a:solidFill>
            <a:srgbClr val="F6F8FC"/>
          </a:solidFill>
          <a:ln w="19050">
            <a:solidFill>
              <a:srgbClr val="CADCF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eastAsia typeface="Yu Gothic"/>
              </a:rPr>
              <a:t>[ 画像／図 挿入領域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eastAsia typeface="Yu Gothic"/>
              </a:rPr>
              <a:t>kobaamd UI スクショ（後差し替え）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eastAsia typeface="Yu Gothic"/>
              </a:rPr>
              <a:t>▶ 数字は当日直前に再取得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最初の作戦：3つのAIを役割分担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それぞれの特徴を見て、得意領域に当てはめた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657600" cy="47548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59" y="1783080"/>
            <a:ext cx="822960" cy="8229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eastAsia typeface="Yu Gothic"/>
              </a:rPr>
              <a:t>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eastAsia typeface="Yu Gothic"/>
              </a:rPr>
              <a:t>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eastAsia typeface="Yu Gothic"/>
              </a:rPr>
              <a:t>特徴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08960"/>
            <a:ext cx="3200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マルチモーダル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大量入力に強い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検索ベースの最新情報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166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eastAsia typeface="Yu Gothic"/>
              </a:rPr>
              <a:t>→ だから この役割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440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E2761"/>
                </a:solidFill>
                <a:eastAsia typeface="Yu Gothic"/>
              </a:rPr>
              <a:t>リサーチ・調査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657600" cy="47548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783080"/>
            <a:ext cx="82296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830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eastAsia typeface="Yu Gothic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eastAsia typeface="Yu Gothic"/>
              </a:rPr>
              <a:t>Codex 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eastAsia typeface="Yu Gothic"/>
              </a:rPr>
              <a:t>特徴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08960"/>
            <a:ext cx="3200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コーディング特化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単価が安い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ChatGPT Plus 認証で動く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166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eastAsia typeface="Yu Gothic"/>
              </a:rPr>
              <a:t>→ だから この役割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440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E2761"/>
                </a:solidFill>
                <a:eastAsia typeface="Yu Gothic"/>
              </a:rPr>
              <a:t>実装の主力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554480"/>
            <a:ext cx="3657600" cy="47548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1783080"/>
            <a:ext cx="822960" cy="8229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7830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eastAsia typeface="Yu Gothic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eastAsia typeface="Yu Gothic"/>
              </a:rPr>
              <a:t>Claude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eastAsia typeface="Yu Gothic"/>
              </a:rPr>
              <a:t>特徴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108960"/>
            <a:ext cx="3200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設計判断・推論力が高い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コードレビューが強い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単価は高め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166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eastAsia typeface="Yu Gothic"/>
              </a:rPr>
              <a:t>→ だから この役割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440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E2761"/>
                </a:solidFill>
                <a:eastAsia typeface="Yu Gothic"/>
              </a:rPr>
              <a:t>オーケストレーター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ところが Claude が、全部やろうとする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★悪いマネージャー①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155680" cy="237744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7280"/>
                </a:solidFill>
                <a:eastAsia typeface="Yu Gothic"/>
              </a:rPr>
              <a:t>「あれ？最近 Codex に頼んでる雰囲気がないな…」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7280"/>
                </a:solidFill>
                <a:eastAsia typeface="Yu Gothic"/>
              </a:rPr>
              <a:t>「Claude さん、実装どうしてる？」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E2761"/>
                </a:solidFill>
                <a:eastAsia typeface="Yu Gothic"/>
              </a:rPr>
              <a:t>→  「私が書きました！」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11155680" cy="2286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eastAsia typeface="Yu Gothic"/>
              </a:rPr>
              <a:t>よくあるアンチパターン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1">
                <a:solidFill>
                  <a:srgbClr val="FFFFFF"/>
                </a:solidFill>
                <a:eastAsia typeface="Yu Gothic"/>
              </a:rPr>
              <a:t>「自分がやった方が早い」と思っている新任マネージャー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ADCFC"/>
                </a:solidFill>
                <a:eastAsia typeface="Yu Gothic"/>
              </a:rPr>
              <a:t>・ 設計判断と実装が混ざって品質ダウン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ADCFC"/>
                </a:solidFill>
                <a:eastAsia typeface="Yu Gothic"/>
              </a:rPr>
              <a:t>・ 単価の高いモデルが、本来は安いモデルでよい仕事までやる（コスト悪化）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役割を CLAUDE.md に明文化した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コードと同じくレビュー可能な場所にルールを置く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852160" cy="4114800"/>
          </a:xfrm>
          <a:prstGeom prst="rect">
            <a:avLst/>
          </a:prstGeom>
          <a:solidFill>
            <a:srgbClr val="F6F8FC"/>
          </a:solidFill>
          <a:ln w="19050">
            <a:solidFill>
              <a:srgbClr val="CADCF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383279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eastAsia typeface="Yu Gothic"/>
              </a:rPr>
              <a:t>[ 画像／図 挿入領域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eastAsia typeface="Yu Gothic"/>
              </a:rPr>
              <a:t>CLAUDE.md の抜粋（コードブロック）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5120640" cy="411480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効果メモ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eastAsia typeface="Yu Gothic"/>
              </a:rPr>
              <a:t>[ 後で具体的に書く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次の壁：人間が張り付かないと進まない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25880"/>
            <a:ext cx="9418320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25880"/>
            <a:ext cx="9418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CADCFC"/>
                </a:solidFill>
                <a:eastAsia typeface="Yu Gothic"/>
              </a:rPr>
              <a:t>「これ、自分がボトルネックでは？」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6B7280"/>
                </a:solidFill>
                <a:eastAsia typeface="Yu Gothic"/>
              </a:rPr>
              <a:t>あるあるな1日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5440680" cy="7772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3063240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eastAsia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71800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Claude「次どうしますか？」で作業が中断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926080"/>
            <a:ext cx="5440680" cy="7772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3063240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eastAsia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2971800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PRが3つ溜まってる、レビューが追いつかない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67912"/>
            <a:ext cx="5440680" cy="7772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4005072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050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eastAsia typeface="Y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13632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通知でチラ見 → 5分でも作業に戻れない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67912"/>
            <a:ext cx="5440680" cy="7772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4005072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050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eastAsia typeface="Yu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3913632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「あと一周だけ」で午前2時まで止まらない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09744"/>
            <a:ext cx="5440680" cy="7772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946904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94690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eastAsia typeface="Yu Gothi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855464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テスト失敗の原因切り分けは結局自分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809744"/>
            <a:ext cx="5440680" cy="7772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4946904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94690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eastAsia typeface="Yu Gothic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4855464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曖昧質問への待機状態が積み重なる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eastAsia typeface="Yu Gothic"/>
              </a:rPr>
              <a:t>Cursor / Buddy / Claude Code、すべて『対話型』。同じ問題が起きる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全部任せた：自律パイプライン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657600" cy="15544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800" b="1" i="0">
                <a:solidFill>
                  <a:srgbClr val="1E2761"/>
                </a:solidFill>
                <a:eastAsia typeface="Yu Gothic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eastAsia typeface="Yu Gothic"/>
              </a:rPr>
              <a:t>SubAgent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657600" cy="15544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800" b="1" i="0">
                <a:solidFill>
                  <a:srgbClr val="1E2761"/>
                </a:solidFill>
                <a:eastAsia typeface="Yu Gothic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606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eastAsia typeface="Yu Gothic"/>
              </a:rPr>
              <a:t>Slash Command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657600" cy="15544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800" b="1" i="0">
                <a:solidFill>
                  <a:srgbClr val="1E2761"/>
                </a:solidFill>
                <a:eastAsia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606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eastAsia typeface="Yu Gothic"/>
              </a:rPr>
              <a:t>定期実行バンドル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80"/>
            <a:ext cx="3657600" cy="15544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800" b="1" i="0">
                <a:solidFill>
                  <a:srgbClr val="1E2761"/>
                </a:solidFill>
                <a:eastAsia typeface="Yu Gothic"/>
              </a:rPr>
              <a:t>197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eastAsia typeface="Yu Gothic"/>
              </a:rPr>
              <a:t>ステータス遷移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383280"/>
            <a:ext cx="3657600" cy="15544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38328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800" b="1" i="0">
                <a:solidFill>
                  <a:srgbClr val="1E2761"/>
                </a:solidFill>
                <a:eastAsia typeface="Yu Gothic"/>
              </a:rPr>
              <a:t>560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343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eastAsia typeface="Yu Gothic"/>
              </a:rPr>
              <a:t>Linear API 書込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383280"/>
            <a:ext cx="3657600" cy="15544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38328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800" b="1" i="0">
                <a:solidFill>
                  <a:srgbClr val="1E2761"/>
                </a:solidFill>
                <a:eastAsia typeface="Yu Gothic"/>
              </a:rPr>
              <a:t>31+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343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eastAsia typeface="Yu Gothic"/>
              </a:rPr>
              <a:t>Done 済 issue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120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eastAsia typeface="Yu Gothic"/>
              </a:rPr>
              <a:t>人間がやるのは2つだけ：①投げる ②優先順位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eastAsia typeface="Yu Gothic"/>
              </a:rPr>
              <a:t>▶ 数字は当日直前に再取得（Done件数も Linear UI で目視）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ステータスフロー：通常は Human in Review を通らずにマージまで進む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" y="566928"/>
            <a:ext cx="91440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5943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ADCFC"/>
                </a:solidFill>
                <a:eastAsia typeface="Yu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896112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eastAsia typeface="Yu Gothic"/>
              </a:rPr>
              <a:t>人間
判断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66928"/>
            <a:ext cx="10972800" cy="64008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21331" y="630936"/>
            <a:ext cx="1763485" cy="51206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31059" y="658368"/>
            <a:ext cx="15440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eastAsia typeface="Yu Gothic"/>
              </a:rPr>
              <a:t>★ todo に昇格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1059" y="932688"/>
            <a:ext cx="154402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12933"/>
                </a:solidFill>
                <a:eastAsia typeface="Yu Gothic"/>
              </a:rPr>
              <a:t>着手承認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4245" y="630936"/>
            <a:ext cx="2220685" cy="51206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3973" y="658368"/>
            <a:ext cx="2001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eastAsia typeface="Yu Gothic"/>
              </a:rPr>
              <a:t>★ Human in Review に返信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3973" y="932688"/>
            <a:ext cx="200122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12933"/>
                </a:solidFill>
                <a:eastAsia typeface="Yu Gothic"/>
              </a:rPr>
              <a:t>仕様判断が必要なときだけ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" y="1298448"/>
            <a:ext cx="914400" cy="5943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" y="13258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ADCFC"/>
                </a:solidFill>
                <a:eastAsia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" y="1627631"/>
            <a:ext cx="9144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eastAsia typeface="Yu Gothic"/>
              </a:rPr>
              <a:t>ステータス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1298448"/>
            <a:ext cx="10972800" cy="59436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1371600"/>
            <a:ext cx="1489165" cy="448056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371600"/>
            <a:ext cx="1489165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  <a:eastAsia typeface="Yu Gothic"/>
              </a:rPr>
              <a:t>draft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86445" y="1595628"/>
            <a:ext cx="91440" cy="0"/>
          </a:xfrm>
          <a:prstGeom prst="line">
            <a:avLst/>
          </a:prstGeom>
          <a:ln w="19050">
            <a:solidFill>
              <a:srgbClr val="1E276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677885" y="1371600"/>
            <a:ext cx="1489165" cy="448056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7885" y="1371600"/>
            <a:ext cx="1489165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  <a:eastAsia typeface="Yu Gothic"/>
              </a:rPr>
              <a:t>backlog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67051" y="1595628"/>
            <a:ext cx="91440" cy="0"/>
          </a:xfrm>
          <a:prstGeom prst="line">
            <a:avLst/>
          </a:prstGeom>
          <a:ln w="19050">
            <a:solidFill>
              <a:srgbClr val="1E276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258491" y="1371600"/>
            <a:ext cx="1489165" cy="44805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8491" y="1371600"/>
            <a:ext cx="1489165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eastAsia typeface="Yu Gothic"/>
              </a:rPr>
              <a:t>todo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47657" y="1595628"/>
            <a:ext cx="91440" cy="0"/>
          </a:xfrm>
          <a:prstGeom prst="line">
            <a:avLst/>
          </a:prstGeom>
          <a:ln w="19050">
            <a:solidFill>
              <a:srgbClr val="1E276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839097" y="1371600"/>
            <a:ext cx="1489165" cy="448056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39097" y="1371600"/>
            <a:ext cx="1489165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  <a:eastAsia typeface="Yu Gothic"/>
              </a:rPr>
              <a:t>In Progress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28262" y="1595628"/>
            <a:ext cx="91440" cy="0"/>
          </a:xfrm>
          <a:prstGeom prst="line">
            <a:avLst/>
          </a:prstGeom>
          <a:ln w="19050">
            <a:solidFill>
              <a:srgbClr val="1E276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419702" y="1371600"/>
            <a:ext cx="1489165" cy="448056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19702" y="1371600"/>
            <a:ext cx="1489165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  <a:eastAsia typeface="Yu Gothic"/>
              </a:rPr>
              <a:t>in Review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08868" y="1595628"/>
            <a:ext cx="91440" cy="0"/>
          </a:xfrm>
          <a:prstGeom prst="line">
            <a:avLst/>
          </a:prstGeom>
          <a:ln w="31750">
            <a:solidFill>
              <a:srgbClr val="1E276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00308" y="1371600"/>
            <a:ext cx="1489165" cy="448056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0308" y="1371600"/>
            <a:ext cx="1489165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  <a:eastAsia typeface="Yu Gothic"/>
              </a:rPr>
              <a:t>Reviewed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489474" y="1595628"/>
            <a:ext cx="91440" cy="0"/>
          </a:xfrm>
          <a:prstGeom prst="line">
            <a:avLst/>
          </a:prstGeom>
          <a:ln w="19050">
            <a:solidFill>
              <a:srgbClr val="1E276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580914" y="1371600"/>
            <a:ext cx="1489165" cy="448056"/>
          </a:xfrm>
          <a:prstGeom prst="roundRect">
            <a:avLst/>
          </a:prstGeom>
          <a:solidFill>
            <a:srgbClr val="4A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80914" y="1371600"/>
            <a:ext cx="1489165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eastAsia typeface="Yu Gothic"/>
              </a:rPr>
              <a:t>Done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10005" y="2011680"/>
            <a:ext cx="1489165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0005" y="2011680"/>
            <a:ext cx="148916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eastAsia typeface="Yu Gothic"/>
              </a:rPr>
              <a:t>Human in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5685" y="2423160"/>
            <a:ext cx="20378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eastAsia typeface="Yu Gothic"/>
              </a:rPr>
              <a:t>（条件付き分岐）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8347165" y="1892807"/>
            <a:ext cx="424543" cy="118873"/>
          </a:xfrm>
          <a:prstGeom prst="line">
            <a:avLst/>
          </a:prstGeom>
          <a:ln w="9525">
            <a:solidFill>
              <a:srgbClr val="F59E0B"/>
            </a:solidFill>
            <a:prstDash val="dash"/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9137468" y="1892807"/>
            <a:ext cx="424543" cy="118873"/>
          </a:xfrm>
          <a:prstGeom prst="line">
            <a:avLst/>
          </a:prstGeom>
          <a:ln w="9525">
            <a:solidFill>
              <a:srgbClr val="F59E0B"/>
            </a:solidFill>
            <a:prstDash val="dash"/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003074" y="1207007"/>
            <a:ext cx="0" cy="91441"/>
          </a:xfrm>
          <a:prstGeom prst="line">
            <a:avLst/>
          </a:prstGeom>
          <a:ln w="12700">
            <a:solidFill>
              <a:srgbClr val="F59E0B"/>
            </a:solidFill>
            <a:prstDash val="dash"/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954588" y="1207007"/>
            <a:ext cx="0" cy="804673"/>
          </a:xfrm>
          <a:prstGeom prst="line">
            <a:avLst/>
          </a:prstGeom>
          <a:ln w="12700">
            <a:solidFill>
              <a:srgbClr val="F59E0B"/>
            </a:solidFill>
            <a:prstDash val="dash"/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1440" y="2542032"/>
            <a:ext cx="914400" cy="26060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" y="2569463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ADCFC"/>
                </a:solidFill>
                <a:eastAsia typeface="Yu Gothic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" y="2871215"/>
            <a:ext cx="914400" cy="2276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eastAsia typeface="Yu Gothic"/>
              </a:rPr>
              <a:t>SubAgent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" y="2542032"/>
            <a:ext cx="10972800" cy="2606040"/>
          </a:xfrm>
          <a:prstGeom prst="roundRect">
            <a:avLst/>
          </a:prstGeom>
          <a:solidFill>
            <a:srgbClr val="FD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677885" y="302209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23605" y="308610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eastAsia typeface="Yu Gothic"/>
              </a:rPr>
              <a:t>create_prd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23605" y="338785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kobaamd_create_prd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77885" y="389077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23605" y="395478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eastAsia typeface="Yu Gothic"/>
              </a:rPr>
              <a:t>review_prd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23605" y="425653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kobaamd_review_prd → create_prd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58491" y="345643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04211" y="352044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eastAsia typeface="Yu Gothic"/>
              </a:rPr>
              <a:t>(assign_work)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04211" y="382219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 only ※SubAgent化なし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39097" y="302209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84817" y="308610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eastAsia typeface="Yu Gothic"/>
              </a:rPr>
              <a:t>implement_code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84817" y="338785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kobaamd_implement_code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839097" y="389077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84817" y="395478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eastAsia typeface="Yu Gothic"/>
              </a:rPr>
              <a:t>validate_build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84817" y="425653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kobaamd_validate_build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19702" y="258775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65422" y="265176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eastAsia typeface="Yu Gothic"/>
              </a:rPr>
              <a:t>review_pr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65422" y="295351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kobaamd_review_pr → carve_concerns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19702" y="345643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65422" y="352044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eastAsia typeface="Yu Gothic"/>
              </a:rPr>
              <a:t>review_security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65422" y="382219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kobaamd_review_security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419702" y="432511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65422" y="438912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eastAsia typeface="Yu Gothic"/>
              </a:rPr>
              <a:t>fix_pr_comments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65422" y="469087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kobaamd_fix_pr_comments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00308" y="345643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46028" y="352044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eastAsia typeface="Yu Gothic"/>
              </a:rPr>
              <a:t>merge_pr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46028" y="382219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kobaamd_merge_pr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580914" y="302209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626634" y="308610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eastAsia typeface="Yu Gothic"/>
              </a:rPr>
              <a:t>review_postmortem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26634" y="338785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same → update_wiki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580914" y="389077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95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626634" y="395478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695A9"/>
                </a:solidFill>
                <a:eastAsia typeface="Yu Gothic"/>
              </a:rPr>
              <a:t>update_wiki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26634" y="425653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same → lint_wiki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882051" y="2011680"/>
            <a:ext cx="1946365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973491" y="2057400"/>
            <a:ext cx="176348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eastAsia typeface="Yu Gothic"/>
              </a:rPr>
              <a:t>rework_issue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73491" y="2240280"/>
            <a:ext cx="176348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eastAsia typeface="Yu Gothic"/>
              </a:rPr>
              <a:t>Slash: same → carve_concerns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9699171" y="2217420"/>
            <a:ext cx="182880" cy="0"/>
          </a:xfrm>
          <a:prstGeom prst="line">
            <a:avLst/>
          </a:prstGeom>
          <a:ln w="9525">
            <a:solidFill>
              <a:srgbClr val="F59E0B"/>
            </a:solidFill>
            <a:prstDash val="dash"/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422468" y="1892807"/>
            <a:ext cx="0" cy="112928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422468" y="1892807"/>
            <a:ext cx="0" cy="199796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003074" y="1892807"/>
            <a:ext cx="0" cy="156362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583680" y="1892807"/>
            <a:ext cx="0" cy="112928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583680" y="1892807"/>
            <a:ext cx="0" cy="199796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164285" y="1892807"/>
            <a:ext cx="0" cy="69494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164285" y="1892807"/>
            <a:ext cx="0" cy="156362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164285" y="1892807"/>
            <a:ext cx="0" cy="243230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744891" y="1892807"/>
            <a:ext cx="0" cy="156362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325497" y="1892807"/>
            <a:ext cx="0" cy="112928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325497" y="1892807"/>
            <a:ext cx="0" cy="199796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91440" y="5257800"/>
            <a:ext cx="914400" cy="1417320"/>
          </a:xfrm>
          <a:prstGeom prst="roundRect">
            <a:avLst/>
          </a:prstGeom>
          <a:solidFill>
            <a:srgbClr val="4A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1440" y="52852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ADCFC"/>
                </a:solidFill>
                <a:eastAsia typeface="Yu Gothic"/>
              </a:rPr>
              <a:t>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440" y="5586984"/>
            <a:ext cx="914400" cy="1088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eastAsia typeface="Yu Gothic"/>
              </a:rPr>
              <a:t>成果物
(記憶)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97280" y="5257800"/>
            <a:ext cx="10972800" cy="1417320"/>
          </a:xfrm>
          <a:prstGeom prst="roundRect">
            <a:avLst/>
          </a:prstGeom>
          <a:solidFill>
            <a:srgbClr val="E3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188720" y="5349240"/>
            <a:ext cx="3535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88720" y="5440679"/>
            <a:ext cx="353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8B5CF6"/>
                </a:solidFill>
                <a:eastAsia typeface="Yu Gothic"/>
              </a:rPr>
              <a:t>PRD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88720" y="5806440"/>
            <a:ext cx="353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eastAsia typeface="Yu Gothic"/>
              </a:rPr>
              <a:t>要件・設計判断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80160" y="6099048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eastAsia typeface="Yu Gothic"/>
              </a:rPr>
              <a:t>OUT: create_prd / review_prd / rework_issue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80160" y="6300216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eastAsia typeface="Yu Gothic"/>
              </a:rPr>
              <a:t>IN: implement_code / review_pr / rework_issue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770120" y="5349240"/>
            <a:ext cx="3535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95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770120" y="5440679"/>
            <a:ext cx="353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695A9"/>
                </a:solidFill>
                <a:eastAsia typeface="Yu Gothic"/>
              </a:rPr>
              <a:t>Wiki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70120" y="5806440"/>
            <a:ext cx="353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eastAsia typeface="Yu Gothic"/>
              </a:rPr>
              <a:t>知識ベース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61560" y="6099048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695A9"/>
                </a:solidFill>
                <a:eastAsia typeface="Yu Gothic"/>
              </a:rPr>
              <a:t>OUT: update_wiki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861560" y="6300216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eastAsia typeface="Yu Gothic"/>
              </a:rPr>
              <a:t>IN: review_pr / review_postmortem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351520" y="5349240"/>
            <a:ext cx="3535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351520" y="5440679"/>
            <a:ext cx="353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eastAsia typeface="Yu Gothic"/>
              </a:rPr>
              <a:t>Postmortem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51520" y="5806440"/>
            <a:ext cx="353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eastAsia typeface="Yu Gothic"/>
              </a:rPr>
              <a:t>学び・振り返り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42960" y="6099048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eastAsia typeface="Yu Gothic"/>
              </a:rPr>
              <a:t>OUT: review_postmortem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42960" y="6300216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eastAsia typeface="Yu Gothic"/>
              </a:rPr>
              <a:t>IN: update_wiki</a:t>
            </a:r>
          </a:p>
        </p:txBody>
      </p:sp>
      <p:cxnSp>
        <p:nvCxnSpPr>
          <p:cNvPr id="115" name="Connector 114"/>
          <p:cNvCxnSpPr/>
          <p:nvPr/>
        </p:nvCxnSpPr>
        <p:spPr>
          <a:xfrm flipH="1">
            <a:off x="2682240" y="3799332"/>
            <a:ext cx="740228" cy="1549908"/>
          </a:xfrm>
          <a:prstGeom prst="line">
            <a:avLst/>
          </a:prstGeom>
          <a:ln w="19050">
            <a:solidFill>
              <a:srgbClr val="8B5CF6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2956560" y="4668012"/>
            <a:ext cx="465908" cy="681228"/>
          </a:xfrm>
          <a:prstGeom prst="line">
            <a:avLst/>
          </a:prstGeom>
          <a:ln w="12700">
            <a:solidFill>
              <a:srgbClr val="8B5CF6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3230880" y="2423160"/>
            <a:ext cx="7624354" cy="2926080"/>
          </a:xfrm>
          <a:prstGeom prst="line">
            <a:avLst/>
          </a:prstGeom>
          <a:ln w="12700">
            <a:solidFill>
              <a:srgbClr val="8B5CF6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6537960" y="4668012"/>
            <a:ext cx="4787537" cy="681228"/>
          </a:xfrm>
          <a:prstGeom prst="line">
            <a:avLst/>
          </a:prstGeom>
          <a:ln w="19050">
            <a:solidFill>
              <a:srgbClr val="0695A9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10119360" y="3799332"/>
            <a:ext cx="1206137" cy="1549908"/>
          </a:xfrm>
          <a:prstGeom prst="line">
            <a:avLst/>
          </a:prstGeom>
          <a:ln w="19050">
            <a:solidFill>
              <a:srgbClr val="10B98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でも、当然詰まる（実例）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86400" cy="219456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7373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状態ループ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3774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eastAsia typeface="Yu Gothic"/>
              </a:rPr>
              <a:t>KMD-145：In Progress ↔ Todo を5回往復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486400" cy="219456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コメントスルー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eastAsia typeface="Yu Gothic"/>
              </a:rPr>
              <a:t>KMD-119：Human in Review で72h+停滞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5486400" cy="219456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02335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トークン枯渇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6634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eastAsia typeface="Yu Gothic"/>
              </a:rPr>
              <a:t>想定外の途中停止 → 人間が起こす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749039"/>
            <a:ext cx="5486400" cy="219456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5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デグレ気付かず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eastAsia typeface="Yu Gothic"/>
              </a:rPr>
              <a:t>ビルド通れば「ヨシ」、UIが壊れていても気付けない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1E2761"/>
                </a:solidFill>
                <a:eastAsia typeface="Yu Gothic"/>
              </a:rPr>
              <a:t>→ 全部、人間チームでも起きる問題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仕組みを"育てる"フェーズ＋限界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55680" cy="182880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6B7280"/>
                </a:solidFill>
                <a:eastAsia typeface="Yu Gothic"/>
              </a:rPr>
              <a:t>[ Wiki修正 / token最適化 / ADR/PRD/Wiki に残す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566160"/>
            <a:ext cx="11155680" cy="24688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1155680" cy="2468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1">
                <a:solidFill>
                  <a:srgbClr val="CADCFC"/>
                </a:solidFill>
                <a:eastAsia typeface="Yu Gothic"/>
              </a:rPr>
              <a:t>★ それでも限界：E2E の UX 評価は AI にできない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eastAsia typeface="Yu Gothic"/>
              </a:rPr>
              <a:t>ここで気付いた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eastAsia typeface="Yu Gothic"/>
              </a:rPr>
              <a:t>実は私も、悪いマネージャーだった  （★悪いマネージャー②）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36576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3774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eastAsia typeface="Yu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01752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eastAsia typeface="Yu Gothic"/>
              </a:rPr>
              <a:t>指示が曖昧だと
出力も曖昧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194560"/>
            <a:ext cx="36576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3774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eastAsia typeface="Yu Gothi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1752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eastAsia typeface="Yu Gothic"/>
              </a:rPr>
              <a:t>手順を渡さないと
逐次質問される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94560"/>
            <a:ext cx="36576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eastAsia typeface="Yu Gothi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01752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eastAsia typeface="Yu Gothic"/>
              </a:rPr>
              <a:t>AI には『積み重ね
の記憶』がない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94960"/>
            <a:ext cx="11155680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eastAsia typeface="Yu Gothic"/>
              </a:rPr>
              <a:t>対処：仕事の手順を Slash Command / SubAgent（md）に落とした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伝えたい3つのこと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657600" cy="420624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7373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  <a:eastAsia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65176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AI を道具と思わず
人だと仮定して
仕組みを作ろう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657600" cy="420624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  <a:eastAsia typeface="Yu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AI が止まったら
仕組みの責任。
直そう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657600" cy="420624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7373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  <a:eastAsia typeface="Yu Gothi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65176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急に振りすぎない
優先順位をつけて
渡そう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1">
                <a:solidFill>
                  <a:srgbClr val="1E2761"/>
                </a:solidFill>
                <a:eastAsia typeface="Yu Gothic"/>
              </a:rPr>
              <a:t>「ほぼ人間を扱うみたいになってます」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eastAsia typeface="Yu Gothic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eastAsia typeface="Yu Gothic"/>
              </a:rPr>
              <a:t>AIマネジメントは、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 i="0">
                <a:solidFill>
                  <a:srgbClr val="CADCFC"/>
                </a:solidFill>
                <a:eastAsia typeface="Yu Gothic"/>
              </a:rPr>
              <a:t>人間マネジメントの再発明だった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次へのチャレンジ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11155680" cy="137160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Token 最適化のさらなる挑戦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eastAsia typeface="Yu Gothic"/>
              </a:rPr>
              <a:t>Sonnet / Haiku など軽量モデルでも回せる仕組み化／得意領域別のLLM併用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11155680" cy="137160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E2E の UX 検証を Gemini あたりに任せる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eastAsia typeface="Yu Gothic"/>
              </a:rPr>
              <a:t>「動く」と「使える」のギャップを自動化で埋める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11155680" cy="137160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「人間が判断すべきか？」を疑い続ける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4067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eastAsia typeface="Yu Gothic"/>
              </a:rPr>
              <a:t>残った人間ゲートをさらに減らせないか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